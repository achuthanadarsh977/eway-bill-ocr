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5C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OCR MODULE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Eway Bill Document Parser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560320"/>
            <a:ext cx="11274552" cy="36576"/>
          </a:xfrm>
          <a:prstGeom prst="rect">
            <a:avLst/>
          </a:prstGeom>
          <a:solidFill>
            <a:srgbClr val="5C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CCCCCC"/>
                </a:solidFill>
              </a:rPr>
              <a:t>Converts Eway Bill PDFs → Structured JSON automatically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840480"/>
            <a:ext cx="2926080" cy="109728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3931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C9EFF"/>
                </a:solidFill>
              </a:rPr>
              <a:t>Prepared by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42976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Adarsh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3840480"/>
            <a:ext cx="2926080" cy="109728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59" y="3931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C9EFF"/>
                </a:solidFill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59" y="42976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04-Jun-2026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3840480"/>
            <a:ext cx="2926080" cy="109728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3931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C9EFF"/>
                </a:solidFill>
              </a:rPr>
              <a:t>Status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42976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Draft — Pending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5C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01  | 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are we building?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274552" cy="36576"/>
          </a:xfrm>
          <a:prstGeom prst="rect">
            <a:avLst/>
          </a:prstGeom>
          <a:solidFill>
            <a:srgbClr val="5C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502920" cy="502920"/>
          </a:xfrm>
          <a:prstGeom prst="rect">
            <a:avLst/>
          </a:prstGeom>
          <a:solidFill>
            <a:srgbClr val="5C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Accept an Eway Bill PDF as input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68880"/>
            <a:ext cx="502920" cy="502920"/>
          </a:xfrm>
          <a:prstGeom prst="rect">
            <a:avLst/>
          </a:prstGeom>
          <a:solidFill>
            <a:srgbClr val="5C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4688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514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Detect if PDF is digital or scanned automatically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91840"/>
            <a:ext cx="502920" cy="502920"/>
          </a:xfrm>
          <a:prstGeom prst="rect">
            <a:avLst/>
          </a:prstGeom>
          <a:solidFill>
            <a:srgbClr val="5C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2918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337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Extract all relevant fields using OCR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114800"/>
            <a:ext cx="502920" cy="502920"/>
          </a:xfrm>
          <a:prstGeom prst="rect">
            <a:avLst/>
          </a:prstGeom>
          <a:solidFill>
            <a:srgbClr val="5C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1148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160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Return structured data in JSON format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937760"/>
            <a:ext cx="502920" cy="502920"/>
          </a:xfrm>
          <a:prstGeom prst="rect">
            <a:avLst/>
          </a:prstGeom>
          <a:solidFill>
            <a:srgbClr val="5C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9377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983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Plug into any downstream application — fully independent module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5C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02  |  HIGH-LEVEL DATA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828800"/>
            <a:ext cx="1920240" cy="1645920"/>
          </a:xfrm>
          <a:prstGeom prst="rect">
            <a:avLst/>
          </a:prstGeom>
          <a:solidFill>
            <a:srgbClr val="37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9202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4688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Input
PDF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37744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5C9EFF"/>
                </a:solidFill>
              </a:rPr>
              <a:t>▶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1828800"/>
            <a:ext cx="1920240" cy="1645920"/>
          </a:xfrm>
          <a:prstGeom prst="rect">
            <a:avLst/>
          </a:prstGeom>
          <a:solidFill>
            <a:srgbClr val="5C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1760" y="19202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4688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PDF
Loader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35661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CCCCC"/>
                </a:solidFill>
              </a:rPr>
              <a:t>Detect 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37744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5C9EFF"/>
                </a:solidFill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0" y="1828800"/>
            <a:ext cx="1920240" cy="1645920"/>
          </a:xfrm>
          <a:prstGeom prst="rect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0" y="19202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⚙️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4688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OCR
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35661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CCCCC"/>
                </a:solidFill>
              </a:rPr>
              <a:t>Extract 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37744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5C9EFF"/>
                </a:solidFill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23760" y="1828800"/>
            <a:ext cx="1920240" cy="164592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19202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24688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Parser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35661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CCCCC"/>
                </a:solidFill>
              </a:rPr>
              <a:t>Pull fields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237744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5C9EFF"/>
                </a:solidFill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09760" y="1828800"/>
            <a:ext cx="1920240" cy="16459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0" y="19202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24688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Formatter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0" y="35661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CCCCC"/>
                </a:solidFill>
              </a:rPr>
              <a:t>JSON / CSV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5C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03  |  MODULES 1 &amp; 2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5486400" cy="530352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5C9EFF"/>
                </a:solidFill>
              </a:rPr>
              <a:t>Module 1 — PDF Loader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11274552" cy="36576"/>
          </a:xfrm>
          <a:prstGeom prst="rect">
            <a:avLst/>
          </a:prstGeom>
          <a:solidFill>
            <a:srgbClr val="5C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6002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CCCCCC"/>
                </a:solidFill>
              </a:rPr>
              <a:t>  •  Load the PDF from file path</a:t>
            </a:r>
          </a:p>
          <a:p>
            <a:r>
              <a:rPr sz="1600">
                <a:solidFill>
                  <a:srgbClr val="CCCCCC"/>
                </a:solidFill>
              </a:rPr>
              <a:t>  •  Attempt text extraction with pdf-parse</a:t>
            </a:r>
          </a:p>
          <a:p>
            <a:r>
              <a:rPr sz="1600">
                <a:solidFill>
                  <a:srgbClr val="CCCCCC"/>
                </a:solidFill>
              </a:rPr>
              <a:t>  •  Text &gt; 50 chars  →  Digital PDF</a:t>
            </a:r>
          </a:p>
          <a:p>
            <a:r>
              <a:rPr sz="1600">
                <a:solidFill>
                  <a:srgbClr val="CCCCCC"/>
                </a:solidFill>
              </a:rPr>
              <a:t>  •  Text empty/minimal  →  Scanned PDF</a:t>
            </a:r>
          </a:p>
          <a:p>
            <a:r>
              <a:rPr sz="1600">
                <a:solidFill>
                  <a:srgbClr val="CCCCCC"/>
                </a:solidFill>
              </a:rPr>
              <a:t>  •  Returns: path, numPages, isDigital,</a:t>
            </a:r>
          </a:p>
          <a:p>
            <a:r>
              <a:rPr sz="1600">
                <a:solidFill>
                  <a:srgbClr val="CCCCCC"/>
                </a:solidFill>
              </a:rPr>
              <a:t>  •  rawBuffer, pagesText[]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822960"/>
            <a:ext cx="5486400" cy="530352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9144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5C9EFF"/>
                </a:solidFill>
              </a:rPr>
              <a:t>Module 2 — OCR Engine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08760"/>
            <a:ext cx="11274552" cy="36576"/>
          </a:xfrm>
          <a:prstGeom prst="rect">
            <a:avLst/>
          </a:prstGeom>
          <a:solidFill>
            <a:srgbClr val="5C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002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CCCCCC"/>
                </a:solidFill>
              </a:rPr>
              <a:t>  •  Routes based on PDF type:</a:t>
            </a:r>
          </a:p>
          <a:p>
            <a:r>
              <a:rPr sz="1600">
                <a:solidFill>
                  <a:srgbClr val="CCCCCC"/>
                </a:solidFill>
              </a:rPr>
              <a:t>  •  </a:t>
            </a:r>
          </a:p>
          <a:p>
            <a:r>
              <a:rPr sz="1600">
                <a:solidFill>
                  <a:srgbClr val="CCCCCC"/>
                </a:solidFill>
              </a:rPr>
              <a:t>  •  Digital PDF:</a:t>
            </a:r>
          </a:p>
          <a:p>
            <a:r>
              <a:rPr sz="1600">
                <a:solidFill>
                  <a:srgbClr val="CCCCCC"/>
                </a:solidFill>
              </a:rPr>
              <a:t>  •     → Return text directly (fast)</a:t>
            </a:r>
          </a:p>
          <a:p>
            <a:r>
              <a:rPr sz="1600">
                <a:solidFill>
                  <a:srgbClr val="CCCCCC"/>
                </a:solidFill>
              </a:rPr>
              <a:t>  •  </a:t>
            </a:r>
          </a:p>
          <a:p>
            <a:r>
              <a:rPr sz="1600">
                <a:solidFill>
                  <a:srgbClr val="CCCCCC"/>
                </a:solidFill>
              </a:rPr>
              <a:t>  •  Scanned PDF:</a:t>
            </a:r>
          </a:p>
          <a:p>
            <a:r>
              <a:rPr sz="1600">
                <a:solidFill>
                  <a:srgbClr val="CCCCCC"/>
                </a:solidFill>
              </a:rPr>
              <a:t>  •     → Convert pages to images</a:t>
            </a:r>
          </a:p>
          <a:p>
            <a:r>
              <a:rPr sz="1600">
                <a:solidFill>
                  <a:srgbClr val="CCCCCC"/>
                </a:solidFill>
              </a:rPr>
              <a:t>  •     → Run tesseract.js (WASM)</a:t>
            </a:r>
          </a:p>
          <a:p>
            <a:r>
              <a:rPr sz="1600">
                <a:solidFill>
                  <a:srgbClr val="CCCCCC"/>
                </a:solidFill>
              </a:rPr>
              <a:t>  •     → Return extracted text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5C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04  |  MODULE 3 — PARSER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Fields extracted from every Eway Bill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74552" cy="36576"/>
          </a:xfrm>
          <a:prstGeom prst="rect">
            <a:avLst/>
          </a:prstGeom>
          <a:solidFill>
            <a:srgbClr val="5C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508760"/>
            <a:ext cx="2103120" cy="484632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508760"/>
            <a:ext cx="2103120" cy="502920"/>
          </a:xfrm>
          <a:prstGeom prst="rect">
            <a:avLst/>
          </a:prstGeom>
          <a:solidFill>
            <a:srgbClr val="5C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EWB Details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03120"/>
            <a:ext cx="1920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CCCCC"/>
                </a:solidFill>
              </a:rPr>
              <a:t>• EWB Number</a:t>
            </a:r>
          </a:p>
          <a:p>
            <a:r>
              <a:rPr sz="1300">
                <a:solidFill>
                  <a:srgbClr val="CCCCCC"/>
                </a:solidFill>
              </a:rPr>
              <a:t>• EWB Date</a:t>
            </a:r>
          </a:p>
          <a:p>
            <a:r>
              <a:rPr sz="1300">
                <a:solidFill>
                  <a:srgbClr val="CCCCCC"/>
                </a:solidFill>
              </a:rPr>
              <a:t>• Valid Until</a:t>
            </a:r>
          </a:p>
          <a:p>
            <a:r>
              <a:rPr sz="1300">
                <a:solidFill>
                  <a:srgbClr val="CCCCCC"/>
                </a:solidFill>
              </a:rPr>
              <a:t>• Transaction Type</a:t>
            </a:r>
          </a:p>
          <a:p>
            <a:r>
              <a:rPr sz="1300">
                <a:solidFill>
                  <a:srgbClr val="CCCCCC"/>
                </a:solidFill>
              </a:rPr>
              <a:t>• Document No &amp; Date</a:t>
            </a:r>
          </a:p>
          <a:p>
            <a:r>
              <a:rPr sz="1300">
                <a:solidFill>
                  <a:srgbClr val="CCCCCC"/>
                </a:solidFill>
              </a:rPr>
              <a:t>• Value of Goods</a:t>
            </a:r>
          </a:p>
          <a:p>
            <a:r>
              <a:rPr sz="1300">
                <a:solidFill>
                  <a:srgbClr val="CCCCCC"/>
                </a:solidFill>
              </a:rPr>
              <a:t>• IRN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97480" y="1508760"/>
            <a:ext cx="2103120" cy="484632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97480" y="1508760"/>
            <a:ext cx="2103120" cy="50292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155448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From Party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103120"/>
            <a:ext cx="1920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CCCCC"/>
                </a:solidFill>
              </a:rPr>
              <a:t>• GSTIN</a:t>
            </a:r>
          </a:p>
          <a:p>
            <a:r>
              <a:rPr sz="1300">
                <a:solidFill>
                  <a:srgbClr val="CCCCCC"/>
                </a:solidFill>
              </a:rPr>
              <a:t>• Company Name</a:t>
            </a:r>
          </a:p>
          <a:p>
            <a:r>
              <a:rPr sz="1300">
                <a:solidFill>
                  <a:srgbClr val="CCCCCC"/>
                </a:solidFill>
              </a:rPr>
              <a:t>• Place</a:t>
            </a:r>
          </a:p>
          <a:p>
            <a:r>
              <a:rPr sz="1300">
                <a:solidFill>
                  <a:srgbClr val="CCCCCC"/>
                </a:solidFill>
              </a:rPr>
              <a:t>• State</a:t>
            </a:r>
          </a:p>
          <a:p>
            <a:r>
              <a:rPr sz="1300">
                <a:solidFill>
                  <a:srgbClr val="CCCCCC"/>
                </a:solidFill>
              </a:rPr>
              <a:t>• Pincode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0" y="1508760"/>
            <a:ext cx="2103120" cy="484632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20640" y="1508760"/>
            <a:ext cx="2103120" cy="502920"/>
          </a:xfrm>
          <a:prstGeom prst="rect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79" y="155448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To Party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79" y="2103120"/>
            <a:ext cx="1920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CCCCC"/>
                </a:solidFill>
              </a:rPr>
              <a:t>• GSTIN</a:t>
            </a:r>
          </a:p>
          <a:p>
            <a:r>
              <a:rPr sz="1300">
                <a:solidFill>
                  <a:srgbClr val="CCCCCC"/>
                </a:solidFill>
              </a:rPr>
              <a:t>• Company Name</a:t>
            </a:r>
          </a:p>
          <a:p>
            <a:r>
              <a:rPr sz="1300">
                <a:solidFill>
                  <a:srgbClr val="CCCCCC"/>
                </a:solidFill>
              </a:rPr>
              <a:t>• Place</a:t>
            </a:r>
          </a:p>
          <a:p>
            <a:r>
              <a:rPr sz="1300">
                <a:solidFill>
                  <a:srgbClr val="CCCCCC"/>
                </a:solidFill>
              </a:rPr>
              <a:t>• State</a:t>
            </a:r>
          </a:p>
          <a:p>
            <a:r>
              <a:rPr sz="1300">
                <a:solidFill>
                  <a:srgbClr val="CCCCCC"/>
                </a:solidFill>
              </a:rPr>
              <a:t>• Pincode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43800" y="1508760"/>
            <a:ext cx="2103120" cy="484632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543800" y="1508760"/>
            <a:ext cx="2103120" cy="5029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35240" y="155448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Item Details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2103120"/>
            <a:ext cx="1920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CCCCC"/>
                </a:solidFill>
              </a:rPr>
              <a:t>• HSN Code</a:t>
            </a:r>
          </a:p>
          <a:p>
            <a:r>
              <a:rPr sz="1300">
                <a:solidFill>
                  <a:srgbClr val="CCCCCC"/>
                </a:solidFill>
              </a:rPr>
              <a:t>• Product Description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66960" y="1508760"/>
            <a:ext cx="2103120" cy="484632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966960" y="1508760"/>
            <a:ext cx="2103120" cy="5029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0" y="155448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Transporter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2103120"/>
            <a:ext cx="1920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CCCCC"/>
                </a:solidFill>
              </a:rPr>
              <a:t>• Transporter GSTIN</a:t>
            </a:r>
          </a:p>
          <a:p>
            <a:r>
              <a:rPr sz="1300">
                <a:solidFill>
                  <a:srgbClr val="CCCCCC"/>
                </a:solidFill>
              </a:rPr>
              <a:t>• Transporter Name</a:t>
            </a:r>
          </a:p>
          <a:p>
            <a:r>
              <a:rPr sz="1300">
                <a:solidFill>
                  <a:srgbClr val="CCCCCC"/>
                </a:solidFill>
              </a:rPr>
              <a:t>• Vehicle Number</a:t>
            </a:r>
          </a:p>
          <a:p>
            <a:r>
              <a:rPr sz="1300">
                <a:solidFill>
                  <a:srgbClr val="CCCCCC"/>
                </a:solidFill>
              </a:rPr>
              <a:t>• Transport Mode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5C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05  |  MODULES 4 &amp;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5486400" cy="530352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5C9EFF"/>
                </a:solidFill>
              </a:rPr>
              <a:t>Module 4 — Formatter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11274552" cy="36576"/>
          </a:xfrm>
          <a:prstGeom prst="rect">
            <a:avLst/>
          </a:prstGeom>
          <a:solidFill>
            <a:srgbClr val="5C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6002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CCCCCC"/>
                </a:solidFill>
              </a:rPr>
              <a:t>  •  Saves parsed data to disk</a:t>
            </a:r>
          </a:p>
          <a:p>
            <a:r>
              <a:rPr sz="1600">
                <a:solidFill>
                  <a:srgbClr val="CCCCCC"/>
                </a:solidFill>
              </a:rPr>
              <a:t>  •  </a:t>
            </a:r>
          </a:p>
          <a:p>
            <a:r>
              <a:rPr sz="1600">
                <a:solidFill>
                  <a:srgbClr val="CCCCCC"/>
                </a:solidFill>
              </a:rPr>
              <a:t>  •  JSON  (primary)</a:t>
            </a:r>
          </a:p>
          <a:p>
            <a:r>
              <a:rPr sz="1600">
                <a:solidFill>
                  <a:srgbClr val="CCCCCC"/>
                </a:solidFill>
              </a:rPr>
              <a:t>  •     → Pretty-printed nested structure</a:t>
            </a:r>
          </a:p>
          <a:p>
            <a:r>
              <a:rPr sz="1600">
                <a:solidFill>
                  <a:srgbClr val="CCCCCC"/>
                </a:solidFill>
              </a:rPr>
              <a:t>  •     → Used by downstream apps</a:t>
            </a:r>
          </a:p>
          <a:p>
            <a:r>
              <a:rPr sz="1600">
                <a:solidFill>
                  <a:srgbClr val="CCCCCC"/>
                </a:solidFill>
              </a:rPr>
              <a:t>  •  </a:t>
            </a:r>
          </a:p>
          <a:p>
            <a:r>
              <a:rPr sz="1600">
                <a:solidFill>
                  <a:srgbClr val="CCCCCC"/>
                </a:solidFill>
              </a:rPr>
              <a:t>  •  CSV  (secondary)</a:t>
            </a:r>
          </a:p>
          <a:p>
            <a:r>
              <a:rPr sz="1600">
                <a:solidFill>
                  <a:srgbClr val="CCCCCC"/>
                </a:solidFill>
              </a:rPr>
              <a:t>  •     → Flattened single-row format</a:t>
            </a:r>
          </a:p>
          <a:p>
            <a:r>
              <a:rPr sz="1600">
                <a:solidFill>
                  <a:srgbClr val="CCCCCC"/>
                </a:solidFill>
              </a:rPr>
              <a:t>  •     → For manual review / Excel</a:t>
            </a:r>
          </a:p>
          <a:p>
            <a:r>
              <a:rPr sz="1600">
                <a:solidFill>
                  <a:srgbClr val="CCCCCC"/>
                </a:solidFill>
              </a:rPr>
              <a:t>  •  </a:t>
            </a:r>
          </a:p>
          <a:p>
            <a:r>
              <a:rPr sz="1600">
                <a:solidFill>
                  <a:srgbClr val="CCCCCC"/>
                </a:solidFill>
              </a:rPr>
              <a:t>  •  Output: {filename}_{timestamp}.json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822960"/>
            <a:ext cx="5486400" cy="530352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9144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5C9EFF"/>
                </a:solidFill>
              </a:rPr>
              <a:t>Module 5 — Main Entry Point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08760"/>
            <a:ext cx="11274552" cy="36576"/>
          </a:xfrm>
          <a:prstGeom prst="rect">
            <a:avLst/>
          </a:prstGeom>
          <a:solidFill>
            <a:srgbClr val="5C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002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CCCCCC"/>
                </a:solidFill>
              </a:rPr>
              <a:t>  •  Wires all 4 modules together</a:t>
            </a:r>
          </a:p>
          <a:p>
            <a:r>
              <a:rPr sz="1600">
                <a:solidFill>
                  <a:srgbClr val="CCCCCC"/>
                </a:solidFill>
              </a:rPr>
              <a:t>  •  Accepts CLI arguments</a:t>
            </a:r>
          </a:p>
          <a:p>
            <a:r>
              <a:rPr sz="1600">
                <a:solidFill>
                  <a:srgbClr val="CCCCCC"/>
                </a:solidFill>
              </a:rPr>
              <a:t>  •  </a:t>
            </a:r>
          </a:p>
          <a:p>
            <a:r>
              <a:rPr sz="1600">
                <a:solidFill>
                  <a:srgbClr val="CCCCCC"/>
                </a:solidFill>
              </a:rPr>
              <a:t>  •  Commands:</a:t>
            </a:r>
          </a:p>
          <a:p>
            <a:r>
              <a:rPr sz="1600">
                <a:solidFill>
                  <a:srgbClr val="CCCCCC"/>
                </a:solidFill>
              </a:rPr>
              <a:t>  •    ts-node main.ts &lt;pdf&gt;</a:t>
            </a:r>
          </a:p>
          <a:p>
            <a:r>
              <a:rPr sz="1600">
                <a:solidFill>
                  <a:srgbClr val="CCCCCC"/>
                </a:solidFill>
              </a:rPr>
              <a:t>  •       → outputs JSON</a:t>
            </a:r>
          </a:p>
          <a:p>
            <a:r>
              <a:rPr sz="1600">
                <a:solidFill>
                  <a:srgbClr val="CCCCCC"/>
                </a:solidFill>
              </a:rPr>
              <a:t>  •    ts-node main.ts &lt;pdf&gt; --csv</a:t>
            </a:r>
          </a:p>
          <a:p>
            <a:r>
              <a:rPr sz="1600">
                <a:solidFill>
                  <a:srgbClr val="CCCCCC"/>
                </a:solidFill>
              </a:rPr>
              <a:t>  •       → also outputs CSV</a:t>
            </a:r>
          </a:p>
          <a:p>
            <a:r>
              <a:rPr sz="1600">
                <a:solidFill>
                  <a:srgbClr val="CCCCCC"/>
                </a:solidFill>
              </a:rPr>
              <a:t>  •    ts-node main.ts &lt;pdf&gt; --raw</a:t>
            </a:r>
          </a:p>
          <a:p>
            <a:r>
              <a:rPr sz="1600">
                <a:solidFill>
                  <a:srgbClr val="CCCCCC"/>
                </a:solidFill>
              </a:rPr>
              <a:t>  •       → prints raw text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5C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06  |  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2286000" cy="868680"/>
          </a:xfrm>
          <a:prstGeom prst="rect">
            <a:avLst/>
          </a:prstGeom>
          <a:solidFill>
            <a:srgbClr val="5C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TypeScript</a:t>
            </a:r>
          </a:p>
        </p:txBody>
      </p:sp>
      <p:sp>
        <p:nvSpPr>
          <p:cNvPr id="6" name="Rectangle 5"/>
          <p:cNvSpPr/>
          <p:nvPr/>
        </p:nvSpPr>
        <p:spPr>
          <a:xfrm>
            <a:off x="2606040" y="822960"/>
            <a:ext cx="3657600" cy="86868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107899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Language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822960"/>
            <a:ext cx="5577840" cy="86868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07899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Type safety, better maintainability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10512"/>
            <a:ext cx="2286000" cy="868680"/>
          </a:xfrm>
          <a:prstGeom prst="rect">
            <a:avLst/>
          </a:prstGeom>
          <a:solidFill>
            <a:srgbClr val="5C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03911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Node.js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06040" y="1810512"/>
            <a:ext cx="3657600" cy="86868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2066543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Runtime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810512"/>
            <a:ext cx="5577840" cy="86868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66543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Cross-platform, no server needed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798064"/>
            <a:ext cx="2286000" cy="868680"/>
          </a:xfrm>
          <a:prstGeom prst="rect">
            <a:avLst/>
          </a:prstGeom>
          <a:solidFill>
            <a:srgbClr val="5C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026664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pdf-parse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06040" y="2798064"/>
            <a:ext cx="3657600" cy="86868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0" y="3054096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Digital PDF Extraction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2798064"/>
            <a:ext cx="5577840" cy="86868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054096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Pure JS — no system dependencies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785616"/>
            <a:ext cx="2286000" cy="868680"/>
          </a:xfrm>
          <a:prstGeom prst="rect">
            <a:avLst/>
          </a:prstGeom>
          <a:solidFill>
            <a:srgbClr val="5C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4014216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tesseract.js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06040" y="3785616"/>
            <a:ext cx="3657600" cy="86868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0" y="404164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Scanned PDF OCR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3785616"/>
            <a:ext cx="5577840" cy="86868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404164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WASM-based — no system install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773168"/>
            <a:ext cx="2286000" cy="868680"/>
          </a:xfrm>
          <a:prstGeom prst="rect">
            <a:avLst/>
          </a:prstGeom>
          <a:solidFill>
            <a:srgbClr val="5C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500176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JSON + CSV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06040" y="4773168"/>
            <a:ext cx="3657600" cy="86868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50292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Output Formats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4773168"/>
            <a:ext cx="5577840" cy="86868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50292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JSON for apps, CSV for manual 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03504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C9EFF"/>
                </a:solidFill>
              </a:rPr>
              <a:t>Why no cloud API?  →  Free, local, no rate limits, sustainable at any volume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5C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07  |  INCREMENTAL BUILD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CCCC"/>
                </a:solidFill>
              </a:rPr>
              <a:t>Phases 1–3 complete  •  Phases 4–6 pending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11274552" cy="36576"/>
          </a:xfrm>
          <a:prstGeom prst="rect">
            <a:avLst/>
          </a:prstGeom>
          <a:solidFill>
            <a:srgbClr val="5C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1463040" cy="6858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66420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Phase 1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1463040"/>
            <a:ext cx="7772400" cy="68580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65960" y="1664208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PDF Loader + Digital text extraction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92640" y="1463040"/>
            <a:ext cx="2194560" cy="6858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38360" y="166420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DONE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267712"/>
            <a:ext cx="1463040" cy="6858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2468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Phase 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0" y="2267712"/>
            <a:ext cx="7772400" cy="68580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65960" y="246888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Parser — all Eway Bill fields via regex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92640" y="2267712"/>
            <a:ext cx="2194560" cy="6858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38360" y="2468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DONE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072384"/>
            <a:ext cx="1463040" cy="6858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32735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Phase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3072384"/>
            <a:ext cx="7772400" cy="68580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65960" y="3273552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JSON + CSV formatter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92640" y="3072384"/>
            <a:ext cx="2194560" cy="6858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38360" y="327355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DONE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877056"/>
            <a:ext cx="1463040" cy="6858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407822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Phase 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0" y="3877056"/>
            <a:ext cx="7772400" cy="68580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4078224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Scanned PDF support via tesseract.js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92640" y="3877056"/>
            <a:ext cx="2194560" cy="6858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38360" y="4078224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PENDING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681728"/>
            <a:ext cx="1463040" cy="6858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488289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Phase 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0" y="4681728"/>
            <a:ext cx="7772400" cy="68580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65960" y="4882896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Batch processing — folder of PDFs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92640" y="4681728"/>
            <a:ext cx="2194560" cy="6858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38360" y="488289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PENDING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5486400"/>
            <a:ext cx="1463040" cy="6858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568756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Phase 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28800" y="5486400"/>
            <a:ext cx="7772400" cy="68580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965960" y="5687568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REST API wrapper (optional)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692640" y="5486400"/>
            <a:ext cx="2194560" cy="6858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738360" y="568756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PENDING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5C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08  |  OPEN QUESTIONS FOR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CCCC"/>
                </a:solidFill>
              </a:rPr>
              <a:t>Seeking answers before Phase 4 implementation begins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98448"/>
            <a:ext cx="11274552" cy="36576"/>
          </a:xfrm>
          <a:prstGeom prst="rect">
            <a:avLst/>
          </a:prstGeom>
          <a:solidFill>
            <a:srgbClr val="5C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777240" cy="1005840"/>
          </a:xfrm>
          <a:prstGeom prst="rect">
            <a:avLst/>
          </a:prstGeom>
          <a:solidFill>
            <a:srgbClr val="5C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755648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Q1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1463040"/>
            <a:ext cx="10771632" cy="100584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1572768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C9EFF"/>
                </a:solidFill>
              </a:rPr>
              <a:t>Multi-item Eway Bills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993392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Should the module handle documents with multiple HSN codes / items per bill?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633472"/>
            <a:ext cx="777240" cy="1005840"/>
          </a:xfrm>
          <a:prstGeom prst="rect">
            <a:avLst/>
          </a:prstGeom>
          <a:solidFill>
            <a:srgbClr val="5C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2926079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Q2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" y="2633472"/>
            <a:ext cx="10771632" cy="100584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2743200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C9EFF"/>
                </a:solidFill>
              </a:rPr>
              <a:t>API vs CLI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163824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Do we need a REST API wrapper, or is CLI usage sufficient for now?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803904"/>
            <a:ext cx="777240" cy="1005840"/>
          </a:xfrm>
          <a:prstGeom prst="rect">
            <a:avLst/>
          </a:prstGeom>
          <a:solidFill>
            <a:srgbClr val="5C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096512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Q3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3803904"/>
            <a:ext cx="10771632" cy="100584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3913632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C9EFF"/>
                </a:solidFill>
              </a:rPr>
              <a:t>JSON Schema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334256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Should the output JSON follow a specific schema already used in the system?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974336"/>
            <a:ext cx="777240" cy="1005840"/>
          </a:xfrm>
          <a:prstGeom prst="rect">
            <a:avLst/>
          </a:prstGeom>
          <a:solidFill>
            <a:srgbClr val="5C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5266944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Q4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4974336"/>
            <a:ext cx="10771632" cy="100584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80160" y="5084064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C9EFF"/>
                </a:solidFill>
              </a:rPr>
              <a:t>Future Document Types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504688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Are there more documents to handle — invoices, delivery challans, etc.?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5C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</a:rPr>
              <a:t>Ready for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240280"/>
            <a:ext cx="11274552" cy="36576"/>
          </a:xfrm>
          <a:prstGeom prst="rect">
            <a:avLst/>
          </a:prstGeom>
          <a:solidFill>
            <a:srgbClr val="5C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95728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1">
                <a:solidFill>
                  <a:srgbClr val="CCCCCC"/>
                </a:solidFill>
              </a:rPr>
              <a:t>Phases 1–3 are complete and working on sample Eway Bill PDFs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108960"/>
            <a:ext cx="2560320" cy="182880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3108960"/>
            <a:ext cx="2560320" cy="109728"/>
          </a:xfrm>
          <a:prstGeom prst="rect">
            <a:avLst/>
          </a:prstGeom>
          <a:solidFill>
            <a:srgbClr val="5C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1188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5C9EFF"/>
                </a:solidFill>
              </a:rPr>
              <a:t>5 Modules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</a:rPr>
              <a:t>Independent, plug-and-play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3108960"/>
            <a:ext cx="2560320" cy="182880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0" y="3108960"/>
            <a:ext cx="2560320" cy="109728"/>
          </a:xfrm>
          <a:prstGeom prst="rect">
            <a:avLst/>
          </a:prstGeom>
          <a:solidFill>
            <a:srgbClr val="5C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39" y="361188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5C9EFF"/>
                </a:solidFill>
              </a:rPr>
              <a:t>2 Output Formats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42976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</a:rPr>
              <a:t>JSON + CSV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3108960"/>
            <a:ext cx="2560320" cy="182880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92240" y="3108960"/>
            <a:ext cx="2560320" cy="109728"/>
          </a:xfrm>
          <a:prstGeom prst="rect">
            <a:avLst/>
          </a:prstGeom>
          <a:solidFill>
            <a:srgbClr val="5C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61188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5C9EFF"/>
                </a:solidFill>
              </a:rPr>
              <a:t>0 Cloud APIs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2976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</a:rPr>
              <a:t>Fully local, sustainable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0" y="3108960"/>
            <a:ext cx="2560320" cy="182880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26880" y="3108960"/>
            <a:ext cx="2560320" cy="109728"/>
          </a:xfrm>
          <a:prstGeom prst="rect">
            <a:avLst/>
          </a:prstGeom>
          <a:solidFill>
            <a:srgbClr val="5C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0" y="361188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5C9EFF"/>
                </a:solidFill>
              </a:rPr>
              <a:t>3 Phases Done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42976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</a:rPr>
              <a:t>Working on real PDFs today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309360"/>
            <a:ext cx="11274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CCCCC"/>
                </a:solidFill>
              </a:rPr>
              <a:t>Prepared by Adarsh  |  04-Jun-2026  |  Pending Manager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